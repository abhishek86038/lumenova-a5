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400" y="1371600"/>
            <a:ext cx="4114800" cy="4114800"/>
          </a:xfrm>
          <a:prstGeom prst="ellipse">
            <a:avLst/>
          </a:prstGeom>
          <a:solidFill>
            <a:srgbClr val="0C1427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686800" y="2286000"/>
            <a:ext cx="2286000" cy="2286000"/>
          </a:xfrm>
          <a:prstGeom prst="ellipse">
            <a:avLst/>
          </a:prstGeom>
          <a:solidFill>
            <a:srgbClr val="10203C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6858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6400" b="1">
                <a:solidFill>
                  <a:srgbClr val="FFFFFF"/>
                </a:solidFill>
                <a:latin typeface="Trebuchet MS"/>
              </a:defRPr>
            </a:pPr>
            <a:r>
              <a:t>LUMENOVA</a:t>
            </a:r>
          </a:p>
          <a:p>
            <a:pPr>
              <a:spcBef>
                <a:spcPts val="1500"/>
              </a:spcBef>
              <a:defRPr sz="2200" b="1">
                <a:solidFill>
                  <a:srgbClr val="F59E0B"/>
                </a:solidFill>
                <a:latin typeface="Segoe UI"/>
              </a:defRPr>
            </a:pPr>
            <a:r>
              <a:t>Trustless Crowdfunding &amp; Milestone-Based Escrow</a:t>
            </a:r>
          </a:p>
          <a:p>
            <a:pPr>
              <a:spcBef>
                <a:spcPts val="1000"/>
              </a:spcBef>
              <a:defRPr sz="1400">
                <a:solidFill>
                  <a:srgbClr val="A0AEC0"/>
                </a:solidFill>
                <a:latin typeface="Segoe UI"/>
              </a:defRPr>
            </a:pPr>
            <a:r>
              <a:t>Empowering transparent project funding on Stellar Soroban through community governance, weighted on-chain voting, and soulbound badges.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5029200"/>
            <a:ext cx="2926080" cy="548640"/>
          </a:xfrm>
          <a:prstGeom prst="roundRect">
            <a:avLst/>
          </a:prstGeom>
          <a:solidFill>
            <a:srgbClr val="0F172A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6B6D4"/>
                </a:solidFill>
                <a:latin typeface="Segoe UI"/>
              </a:defRPr>
            </a:pPr>
            <a:r>
              <a:t>✦ Built for Stellar Builder Challenge L5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Segoe UI"/>
              </a:defRPr>
            </a:pPr>
            <a: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The Critical Trust Gap in Crowdfunding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645920"/>
            <a:ext cx="4754880" cy="4114800"/>
          </a:xfrm>
          <a:prstGeom prst="roundRect">
            <a:avLst/>
          </a:prstGeom>
          <a:solidFill>
            <a:srgbClr val="121929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192024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9E0B"/>
                </a:solidFill>
                <a:latin typeface="Segoe UI"/>
              </a:defRPr>
            </a:pPr>
            <a:r>
              <a:t>Traditional Escrow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468880"/>
            <a:ext cx="42062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• 100% Upfront Disbursement:</a:t>
            </a:r>
          </a:p>
          <a:p>
            <a:pPr>
              <a:spcAft>
                <a:spcPts val="1200"/>
              </a:spcAft>
              <a:defRPr sz="1300">
                <a:solidFill>
                  <a:srgbClr val="A0AEC0"/>
                </a:solidFill>
              </a:defRPr>
            </a:pPr>
            <a:r>
              <a:t>Creators receive all capital upon campaign success, leaving backers with zero leverage.</a:t>
            </a:r>
          </a:p>
          <a:p>
            <a:pPr>
              <a:defRPr sz="1400" b="1">
                <a:solidFill>
                  <a:srgbClr val="FFFFFF"/>
                </a:solidFill>
              </a:defRPr>
            </a:pPr>
            <a:r>
              <a:t>• No Ongoing Verification:</a:t>
            </a:r>
          </a:p>
          <a:p>
            <a:pPr>
              <a:spcAft>
                <a:spcPts val="1200"/>
              </a:spcAft>
              <a:defRPr sz="1300">
                <a:solidFill>
                  <a:srgbClr val="A0AEC0"/>
                </a:solidFill>
              </a:defRPr>
            </a:pPr>
            <a:r>
              <a:t>No mechanism exists to verify if project milestones are actually reached before funds are spent.</a:t>
            </a:r>
          </a:p>
          <a:p>
            <a:pPr>
              <a:defRPr sz="1400" b="1">
                <a:solidFill>
                  <a:srgbClr val="FFFFFF"/>
                </a:solidFill>
              </a:defRPr>
            </a:pPr>
            <a:r>
              <a:t>• High Risk of Capital Loss:</a:t>
            </a:r>
          </a:p>
          <a:p>
            <a:pPr>
              <a:defRPr sz="1300">
                <a:solidFill>
                  <a:srgbClr val="A0AEC0"/>
                </a:solidFill>
              </a:defRPr>
            </a:pPr>
            <a:r>
              <a:t>If a campaign is abandoned or delayed, donors have no recourse and cannot retrieve their funds.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943600" y="3200400"/>
            <a:ext cx="365760" cy="731520"/>
          </a:xfrm>
          <a:prstGeom prst="rightArrow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92240" y="1645920"/>
            <a:ext cx="4754880" cy="4114800"/>
          </a:xfrm>
          <a:prstGeom prst="roundRect">
            <a:avLst/>
          </a:prstGeom>
          <a:solidFill>
            <a:srgbClr val="121929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60" y="192024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F4444"/>
                </a:solidFill>
                <a:latin typeface="Segoe UI"/>
              </a:defRPr>
            </a:pPr>
            <a:r>
              <a:t>The Backer's Risk Profile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2468880"/>
            <a:ext cx="42062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• Blind Trust Dependency:</a:t>
            </a:r>
          </a:p>
          <a:p>
            <a:pPr>
              <a:spcAft>
                <a:spcPts val="1200"/>
              </a:spcAft>
              <a:defRPr sz="1300">
                <a:solidFill>
                  <a:srgbClr val="A0AEC0"/>
                </a:solidFill>
              </a:defRPr>
            </a:pPr>
            <a:r>
              <a:t>Backers are forced to trust social media updates or written reports, which can be easily fabricated.</a:t>
            </a:r>
          </a:p>
          <a:p>
            <a:pPr>
              <a:defRPr sz="1400" b="1">
                <a:solidFill>
                  <a:srgbClr val="FFFFFF"/>
                </a:solidFill>
              </a:defRPr>
            </a:pPr>
            <a:r>
              <a:t>• Platform Centralization:</a:t>
            </a:r>
          </a:p>
          <a:p>
            <a:pPr>
              <a:spcAft>
                <a:spcPts val="1200"/>
              </a:spcAft>
              <a:defRPr sz="1300">
                <a:solidFill>
                  <a:srgbClr val="A0AEC0"/>
                </a:solidFill>
              </a:defRPr>
            </a:pPr>
            <a:r>
              <a:t>Web2 platforms take massive cuts (5-10%) and can freeze accounts arbitrarily without community consensus.</a:t>
            </a:r>
          </a:p>
          <a:p>
            <a:pPr>
              <a:defRPr sz="1400" b="1">
                <a:solidFill>
                  <a:srgbClr val="FFFFFF"/>
                </a:solidFill>
              </a:defRPr>
            </a:pPr>
            <a:r>
              <a:t>• Disincentivized Backers:</a:t>
            </a:r>
          </a:p>
          <a:p>
            <a:pPr>
              <a:defRPr sz="1300">
                <a:solidFill>
                  <a:srgbClr val="A0AEC0"/>
                </a:solidFill>
              </a:defRPr>
            </a:pPr>
            <a:r>
              <a:t>Lack of alignment of incentives leads to low conversion rates, trust fatigue, and fewer repeating donors.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Segoe UI"/>
              </a:defRPr>
            </a:pPr>
            <a:r>
              <a:t>OUR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Lumenova's Milestone-Gated Escrow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18872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A0AEC0"/>
                </a:solidFill>
                <a:latin typeface="Segoe UI"/>
              </a:defRPr>
            </a:pPr>
            <a:r>
              <a:t>Lumenova shifts the power balance back to the community by introducing a 4-milestone smart escrow contract. Funds are unlocked in 25% tranches only after cryptographic proof is verified and approved on-chain by the donors.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011680"/>
            <a:ext cx="2377440" cy="3657600"/>
          </a:xfrm>
          <a:prstGeom prst="roundRect">
            <a:avLst/>
          </a:prstGeom>
          <a:solidFill>
            <a:srgbClr val="121929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" y="2011680"/>
            <a:ext cx="2377440" cy="914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6B6D4"/>
                </a:solidFill>
                <a:latin typeface="Segoe UI"/>
              </a:defRPr>
            </a:pPr>
            <a:r>
              <a:t>01. Donate &amp; Lock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108960"/>
            <a:ext cx="20116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EC0"/>
                </a:solidFill>
                <a:latin typeface="Segoe UI"/>
              </a:defRPr>
            </a:pPr>
            <a:r>
              <a:t>Funds are securely locked in the Soroban smart contract escrow. Donors receive Soulbound badge tokens representing governance rights.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337560" y="3657600"/>
            <a:ext cx="182880" cy="274320"/>
          </a:xfrm>
          <a:prstGeom prst="rightArrow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566160" y="2011680"/>
            <a:ext cx="2377440" cy="3657600"/>
          </a:xfrm>
          <a:prstGeom prst="roundRect">
            <a:avLst/>
          </a:prstGeom>
          <a:solidFill>
            <a:srgbClr val="121929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66160" y="2011680"/>
            <a:ext cx="2377440" cy="91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49040" y="237744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02. Reach &amp; Submit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40" y="3108960"/>
            <a:ext cx="20116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EC0"/>
                </a:solidFill>
                <a:latin typeface="Segoe UI"/>
              </a:defRPr>
            </a:pPr>
            <a:r>
              <a:t>Creator builds the project and completes a milestone. Creator submits progress proof (hash/IPFS link) to the smart contract.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5989320" y="3657600"/>
            <a:ext cx="182880" cy="274320"/>
          </a:xfrm>
          <a:prstGeom prst="rightArrow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17920" y="2011680"/>
            <a:ext cx="2377440" cy="3657600"/>
          </a:xfrm>
          <a:prstGeom prst="roundRect">
            <a:avLst/>
          </a:prstGeom>
          <a:solidFill>
            <a:srgbClr val="121929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2011680"/>
            <a:ext cx="2377440" cy="91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237744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9E0B"/>
                </a:solidFill>
                <a:latin typeface="Segoe UI"/>
              </a:defRPr>
            </a:pPr>
            <a:r>
              <a:t>03. Weighted Vote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108960"/>
            <a:ext cx="20116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EC0"/>
                </a:solidFill>
                <a:latin typeface="Segoe UI"/>
              </a:defRPr>
            </a:pPr>
            <a:r>
              <a:t>Donors vote to approve or reject the submitted proof. Votes are dynamically weighted based on individual donation amounts.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8641080" y="3657600"/>
            <a:ext cx="182880" cy="274320"/>
          </a:xfrm>
          <a:prstGeom prst="rightArrow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869680" y="2011680"/>
            <a:ext cx="2377440" cy="3657600"/>
          </a:xfrm>
          <a:prstGeom prst="roundRect">
            <a:avLst/>
          </a:prstGeom>
          <a:solidFill>
            <a:srgbClr val="121929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869680" y="2011680"/>
            <a:ext cx="2377440" cy="914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52560" y="237744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6B6D4"/>
                </a:solidFill>
                <a:latin typeface="Segoe UI"/>
              </a:defRPr>
            </a:pPr>
            <a:r>
              <a:t>04. Release / Refund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0" y="3108960"/>
            <a:ext cx="20116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EC0"/>
                </a:solidFill>
                <a:latin typeface="Segoe UI"/>
              </a:defRPr>
            </a:pPr>
            <a:r>
              <a:t>Approved: 25% of funds are released to creator. Rejected: Donors can instantly claim a refund for their remaining 25% share.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Segoe UI"/>
              </a:defRPr>
            </a:pPr>
            <a:r>
              <a:t>PRODUCT WALKTHROUGH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Intuitive Web3 Onboarding &amp; Interface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645920"/>
            <a:ext cx="2377440" cy="4206240"/>
          </a:xfrm>
          <a:prstGeom prst="roundRect">
            <a:avLst/>
          </a:prstGeom>
          <a:solidFill>
            <a:srgbClr val="121929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8288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9E0B"/>
                </a:solidFill>
                <a:latin typeface="Segoe UI"/>
              </a:defRPr>
            </a:pPr>
            <a:r>
              <a:t>1. Wallet Onboarding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0" y="2377440"/>
            <a:ext cx="2011680" cy="1645920"/>
          </a:xfrm>
          <a:prstGeom prst="rect">
            <a:avLst/>
          </a:prstGeom>
          <a:solidFill>
            <a:srgbClr val="0C111E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74320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6B6D4"/>
                </a:solidFill>
                <a:latin typeface="Segoe UI"/>
              </a:defRPr>
            </a:pPr>
            <a:r>
              <a:t>[ SCREENSHOT: image-2.png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4206240"/>
            <a:ext cx="2103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0"/>
                </a:solidFill>
                <a:latin typeface="Segoe UI"/>
              </a:defRPr>
            </a:pPr>
            <a:r>
              <a:t>Frictionless connection using Freighter Wallet. Integrated with Stellar's Testnet Friendbot for automated, one-click test funds.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66160" y="1645920"/>
            <a:ext cx="2377440" cy="4206240"/>
          </a:xfrm>
          <a:prstGeom prst="roundRect">
            <a:avLst/>
          </a:prstGeom>
          <a:solidFill>
            <a:srgbClr val="121929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03320" y="18288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9E0B"/>
                </a:solidFill>
                <a:latin typeface="Segoe UI"/>
              </a:defRPr>
            </a:pPr>
            <a:r>
              <a:t>2. Interactive Grid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749040" y="2377440"/>
            <a:ext cx="2011680" cy="1645920"/>
          </a:xfrm>
          <a:prstGeom prst="rect">
            <a:avLst/>
          </a:prstGeom>
          <a:solidFill>
            <a:srgbClr val="0C111E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49040" y="274320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6B6D4"/>
                </a:solidFill>
                <a:latin typeface="Segoe UI"/>
              </a:defRPr>
            </a:pPr>
            <a:r>
              <a:t>[ SCREENSHOT: image.png 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4206240"/>
            <a:ext cx="2103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0"/>
                </a:solidFill>
                <a:latin typeface="Segoe UI"/>
              </a:defRPr>
            </a:pPr>
            <a:r>
              <a:t>Visually displays active campaigns, milestone statuses, and escrow progress. Updates dynamically via Soroban event streaming.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645920"/>
            <a:ext cx="2377440" cy="4206240"/>
          </a:xfrm>
          <a:prstGeom prst="roundRect">
            <a:avLst/>
          </a:prstGeom>
          <a:solidFill>
            <a:srgbClr val="121929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18288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9E0B"/>
                </a:solidFill>
                <a:latin typeface="Segoe UI"/>
              </a:defRPr>
            </a:pPr>
            <a:r>
              <a:t>3. Trustless Escrow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2377440"/>
            <a:ext cx="2011680" cy="1645920"/>
          </a:xfrm>
          <a:prstGeom prst="rect">
            <a:avLst/>
          </a:prstGeom>
          <a:solidFill>
            <a:srgbClr val="0C111E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274320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6B6D4"/>
                </a:solidFill>
                <a:latin typeface="Segoe UI"/>
              </a:defRPr>
            </a:pPr>
            <a:r>
              <a:t>[ SCREENSHOT: image-1.png 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4206240"/>
            <a:ext cx="2103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0"/>
                </a:solidFill>
                <a:latin typeface="Segoe UI"/>
              </a:defRPr>
            </a:pPr>
            <a:r>
              <a:t>Real-time copy-to-clipboard buttons, instant status toasts, and dynamic SVG progress gauges indicating target completion rates.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869680" y="1645920"/>
            <a:ext cx="2377440" cy="4206240"/>
          </a:xfrm>
          <a:prstGeom prst="roundRect">
            <a:avLst/>
          </a:prstGeom>
          <a:solidFill>
            <a:srgbClr val="121929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06840" y="18288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9E0B"/>
                </a:solidFill>
                <a:latin typeface="Segoe UI"/>
              </a:defRPr>
            </a:pPr>
            <a:r>
              <a:t>4. Community Voting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052560" y="2377440"/>
            <a:ext cx="2011680" cy="1645920"/>
          </a:xfrm>
          <a:prstGeom prst="rect">
            <a:avLst/>
          </a:prstGeom>
          <a:solidFill>
            <a:srgbClr val="0C111E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52560" y="274320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6B6D4"/>
                </a:solidFill>
                <a:latin typeface="Segoe UI"/>
              </a:defRPr>
            </a:pPr>
            <a:r>
              <a:t>[ SCREENSHOT: image.png 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06840" y="4206240"/>
            <a:ext cx="2103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0"/>
                </a:solidFill>
                <a:latin typeface="Segoe UI"/>
              </a:defRPr>
            </a:pPr>
            <a:r>
              <a:t>Backers can cast weighted votes. If a milestone is rejected, they can claim a refund via the refund() transaction on the contract.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Segoe UI"/>
              </a:defRPr>
            </a:pPr>
            <a:r>
              <a:t>MARKET OPPORTUNITY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Capturing the Web3 &amp; Social Good Market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645920"/>
            <a:ext cx="4754880" cy="4114800"/>
          </a:xfrm>
          <a:prstGeom prst="roundRect">
            <a:avLst/>
          </a:prstGeom>
          <a:solidFill>
            <a:srgbClr val="121929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192024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6B6D4"/>
                </a:solidFill>
                <a:latin typeface="Segoe UI"/>
              </a:defRPr>
            </a:pPr>
            <a:r>
              <a:t>Market Size &amp; Need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2468880"/>
            <a:ext cx="40233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• $25B+ Crowdfunding Market:</a:t>
            </a:r>
          </a:p>
          <a:p>
            <a:pPr>
              <a:spcAft>
                <a:spcPts val="1200"/>
              </a:spcAft>
              <a:defRPr sz="1300">
                <a:solidFill>
                  <a:srgbClr val="A0AEC0"/>
                </a:solidFill>
              </a:defRPr>
            </a:pPr>
            <a:r>
              <a:t>The global market is expanding, yet transaction costs, delays, and lack of transparency remain major pain points.</a:t>
            </a:r>
          </a:p>
          <a:p>
            <a:pPr>
              <a:defRPr sz="1400" b="1">
                <a:solidFill>
                  <a:srgbClr val="FFFFFF"/>
                </a:solidFill>
              </a:defRPr>
            </a:pPr>
            <a:r>
              <a:t>• Trust Deficit:</a:t>
            </a:r>
          </a:p>
          <a:p>
            <a:pPr>
              <a:spcAft>
                <a:spcPts val="1200"/>
              </a:spcAft>
              <a:defRPr sz="1300">
                <a:solidFill>
                  <a:srgbClr val="A0AEC0"/>
                </a:solidFill>
              </a:defRPr>
            </a:pPr>
            <a:r>
              <a:t>Over 12% of crowdfunding campaigns face delays or fail to deliver entirely, dampening donor confidence.</a:t>
            </a:r>
          </a:p>
          <a:p>
            <a:pPr>
              <a:defRPr sz="1400" b="1">
                <a:solidFill>
                  <a:srgbClr val="FFFFFF"/>
                </a:solidFill>
              </a:defRPr>
            </a:pPr>
            <a:r>
              <a:t>• Decentralized Giving (Web3):</a:t>
            </a:r>
          </a:p>
          <a:p>
            <a:pPr>
              <a:defRPr sz="1300">
                <a:solidFill>
                  <a:srgbClr val="A0AEC0"/>
                </a:solidFill>
              </a:defRPr>
            </a:pPr>
            <a:r>
              <a:t>Decentralized donation volume has surged by 400% over the last three years, demanding trustless solutions.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1645920"/>
            <a:ext cx="4754880" cy="4114800"/>
          </a:xfrm>
          <a:prstGeom prst="roundRect">
            <a:avLst/>
          </a:prstGeom>
          <a:solidFill>
            <a:srgbClr val="121929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0" y="192024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59E0B"/>
                </a:solidFill>
                <a:latin typeface="Segoe UI"/>
              </a:defRPr>
            </a:pPr>
            <a:r>
              <a:t>Why Build on Stellar?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2468880"/>
            <a:ext cx="40233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• Low Cost &amp; Fast Finality:</a:t>
            </a:r>
          </a:p>
          <a:p>
            <a:pPr>
              <a:spcAft>
                <a:spcPts val="1200"/>
              </a:spcAft>
              <a:defRPr sz="1300">
                <a:solidFill>
                  <a:srgbClr val="A0AEC0"/>
                </a:solidFill>
              </a:defRPr>
            </a:pPr>
            <a:r>
              <a:t>Stellar ensures micro-donations are economically viable, with sub-cent network transaction fees.</a:t>
            </a:r>
          </a:p>
          <a:p>
            <a:pPr>
              <a:defRPr sz="1400" b="1">
                <a:solidFill>
                  <a:srgbClr val="FFFFFF"/>
                </a:solidFill>
              </a:defRPr>
            </a:pPr>
            <a:r>
              <a:t>• Interoperability &amp; Anchors:</a:t>
            </a:r>
          </a:p>
          <a:p>
            <a:pPr>
              <a:spcAft>
                <a:spcPts val="1200"/>
              </a:spcAft>
              <a:defRPr sz="1300">
                <a:solidFill>
                  <a:srgbClr val="A0AEC0"/>
                </a:solidFill>
              </a:defRPr>
            </a:pPr>
            <a:r>
              <a:t>Simplifies local currency on/off ramping, allowing non-crypto users to participate globally.</a:t>
            </a:r>
          </a:p>
          <a:p>
            <a:pPr>
              <a:defRPr sz="1400" b="1">
                <a:solidFill>
                  <a:srgbClr val="FFFFFF"/>
                </a:solidFill>
              </a:defRPr>
            </a:pPr>
            <a:r>
              <a:t>• Soroban Rust Smart Contracts:</a:t>
            </a:r>
          </a:p>
          <a:p>
            <a:pPr>
              <a:defRPr sz="1300">
                <a:solidFill>
                  <a:srgbClr val="A0AEC0"/>
                </a:solidFill>
              </a:defRPr>
            </a:pPr>
            <a:r>
              <a:t>Safe, execution-optimized WASM runtime for trustless, multi-contract escrow and voting logic.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Segoe UI"/>
              </a:defRPr>
            </a:pPr>
            <a:r>
              <a:t>TECHNICAL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Decoupled &amp; Scalable Smart Contract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828800"/>
            <a:ext cx="1920240" cy="3840480"/>
          </a:xfrm>
          <a:prstGeom prst="roundRect">
            <a:avLst/>
          </a:prstGeom>
          <a:solidFill>
            <a:srgbClr val="121929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10312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B6D4"/>
                </a:solidFill>
                <a:latin typeface="Segoe UI"/>
              </a:defRPr>
            </a:pPr>
            <a:r>
              <a:t>1. Frontend Layer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743200"/>
            <a:ext cx="16459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EC0"/>
                </a:solidFill>
                <a:latin typeface="Segoe UI"/>
              </a:defRPr>
            </a:pPr>
            <a:r>
              <a:t>React / Vite / TypeScript</a:t>
            </a:r>
            <a:br/>
            <a:br/>
            <a:r>
              <a:t>• Fetches contract state via RPC.</a:t>
            </a:r>
            <a:br/>
            <a:r>
              <a:t>• Custom SVG progress widgets.</a:t>
            </a:r>
            <a:br/>
            <a:r>
              <a:t>• Real-time state-based toast notifications.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871216" y="3657600"/>
            <a:ext cx="91440" cy="182880"/>
          </a:xfrm>
          <a:prstGeom prst="rightArrow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999232" y="1828800"/>
            <a:ext cx="1920240" cy="3840480"/>
          </a:xfrm>
          <a:prstGeom prst="roundRect">
            <a:avLst/>
          </a:prstGeom>
          <a:solidFill>
            <a:srgbClr val="121929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36392" y="210312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2. Wallet / SDK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36392" y="2743200"/>
            <a:ext cx="16459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EC0"/>
                </a:solidFill>
                <a:latin typeface="Segoe UI"/>
              </a:defRPr>
            </a:pPr>
            <a:r>
              <a:t>Freighter Wallet &amp; SDK</a:t>
            </a:r>
            <a:br/>
            <a:br/>
            <a:r>
              <a:t>• Secure transaction signature.</a:t>
            </a:r>
            <a:br/>
            <a:r>
              <a:t>• Interacts with Horizon Server &amp; Soroban RPC endpoint.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956048" y="3657600"/>
            <a:ext cx="91440" cy="182880"/>
          </a:xfrm>
          <a:prstGeom prst="rightArrow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084064" y="1828800"/>
            <a:ext cx="1920240" cy="3840480"/>
          </a:xfrm>
          <a:prstGeom prst="roundRect">
            <a:avLst/>
          </a:prstGeom>
          <a:solidFill>
            <a:srgbClr val="121929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21224" y="210312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Segoe UI"/>
              </a:defRPr>
            </a:pPr>
            <a:r>
              <a:t>3. Escrow Contract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21224" y="2743200"/>
            <a:ext cx="16459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EC0"/>
                </a:solidFill>
                <a:latin typeface="Segoe UI"/>
              </a:defRPr>
            </a:pPr>
            <a:r>
              <a:t>Crowdfunding (Soroban)</a:t>
            </a:r>
            <a:br/>
            <a:br/>
            <a:r>
              <a:t>• Stores milestones, goals.</a:t>
            </a:r>
            <a:br/>
            <a:r>
              <a:t>• Manages escrow balances.</a:t>
            </a:r>
            <a:br/>
            <a:r>
              <a:t>• Publishes custom events.</a:t>
            </a:r>
            <a:br/>
            <a:r>
              <a:t>• Performs voting checks.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7040880" y="3657600"/>
            <a:ext cx="91440" cy="182880"/>
          </a:xfrm>
          <a:prstGeom prst="rightArrow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168896" y="1828800"/>
            <a:ext cx="1920240" cy="3840480"/>
          </a:xfrm>
          <a:prstGeom prst="roundRect">
            <a:avLst/>
          </a:prstGeom>
          <a:solidFill>
            <a:srgbClr val="121929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06056" y="210312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4. Badge Contract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06056" y="2743200"/>
            <a:ext cx="16459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EC0"/>
                </a:solidFill>
                <a:latin typeface="Segoe UI"/>
              </a:defRPr>
            </a:pPr>
            <a:r>
              <a:t>Rewards Badge (Soroban)</a:t>
            </a:r>
            <a:br/>
            <a:br/>
            <a:r>
              <a:t>• Soulbound badge tiers.</a:t>
            </a:r>
            <a:br/>
            <a:r>
              <a:t>• Multi-contract mint call.</a:t>
            </a:r>
            <a:br/>
            <a:r>
              <a:t>• Custom mint authorizations (`set_minter`).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9125712" y="3657600"/>
            <a:ext cx="91440" cy="182880"/>
          </a:xfrm>
          <a:prstGeom prst="rightArrow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253728" y="1828800"/>
            <a:ext cx="1920240" cy="3840480"/>
          </a:xfrm>
          <a:prstGeom prst="roundRect">
            <a:avLst/>
          </a:prstGeom>
          <a:solidFill>
            <a:srgbClr val="121929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90888" y="210312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B6D4"/>
                </a:solidFill>
                <a:latin typeface="Segoe UI"/>
              </a:defRPr>
            </a:pPr>
            <a:r>
              <a:t>5. Ledger Layer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90888" y="2743200"/>
            <a:ext cx="16459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EC0"/>
                </a:solidFill>
                <a:latin typeface="Segoe UI"/>
              </a:defRPr>
            </a:pPr>
            <a:r>
              <a:t>Stellar Testnet Network</a:t>
            </a:r>
            <a:br/>
            <a:br/>
            <a:r>
              <a:t>• finality under 5s.</a:t>
            </a:r>
            <a:br/>
            <a:r>
              <a:t>• Low fee processing.</a:t>
            </a:r>
            <a:br/>
            <a:r>
              <a:t>• Immutable ledger records.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Segoe UI"/>
              </a:defRPr>
            </a:pPr>
            <a:r>
              <a:t>TRACTION &amp; 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Early Testnet Traction &amp; Growth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645920"/>
            <a:ext cx="3108960" cy="1828800"/>
          </a:xfrm>
          <a:prstGeom prst="roundRect">
            <a:avLst/>
          </a:prstGeom>
          <a:solidFill>
            <a:srgbClr val="121929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82880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59E0B"/>
                </a:solidFill>
                <a:latin typeface="Segoe UI"/>
              </a:defRPr>
            </a:pPr>
            <a:r>
              <a:t>87+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4688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Active Wallets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74320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0AEC0"/>
                </a:solidFill>
                <a:latin typeface="Segoe UI"/>
              </a:defRPr>
            </a:pPr>
            <a:r>
              <a:t>Onboarded testnet users participating in campaigns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645920"/>
            <a:ext cx="3108960" cy="1828800"/>
          </a:xfrm>
          <a:prstGeom prst="roundRect">
            <a:avLst/>
          </a:prstGeom>
          <a:solidFill>
            <a:srgbClr val="121929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182880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59E0B"/>
                </a:solidFill>
                <a:latin typeface="Segoe UI"/>
              </a:defRPr>
            </a:pPr>
            <a:r>
              <a:t>83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4688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On-Chain Donations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74320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0AEC0"/>
                </a:solidFill>
                <a:latin typeface="Segoe UI"/>
              </a:defRPr>
            </a:pPr>
            <a:r>
              <a:t>Successful crowdfunding escrow transactions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645920"/>
            <a:ext cx="3108960" cy="1828800"/>
          </a:xfrm>
          <a:prstGeom prst="roundRect">
            <a:avLst/>
          </a:prstGeom>
          <a:solidFill>
            <a:srgbClr val="121929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182880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59E0B"/>
                </a:solidFill>
                <a:latin typeface="Segoe UI"/>
              </a:defRPr>
            </a:pPr>
            <a:r>
              <a:t>100%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24688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Verification Rate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274320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0AEC0"/>
                </a:solidFill>
                <a:latin typeface="Segoe UI"/>
              </a:defRPr>
            </a:pPr>
            <a:r>
              <a:t>On-chain voting success and validation of proofs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3931920"/>
            <a:ext cx="10332720" cy="1828800"/>
          </a:xfrm>
          <a:prstGeom prst="roundRect">
            <a:avLst/>
          </a:prstGeom>
          <a:solidFill>
            <a:srgbClr val="121929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88720" y="4206240"/>
            <a:ext cx="9784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6B6D4"/>
                </a:solidFill>
                <a:latin typeface="Segoe UI"/>
              </a:defRPr>
            </a:pPr>
            <a:r>
              <a:t>Community-Driven Product Development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4572000"/>
            <a:ext cx="9784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A0AEC0"/>
                </a:solidFill>
                <a:latin typeface="Segoe UI"/>
              </a:defRPr>
            </a:pPr>
            <a:r>
              <a:t>• Leveraged active feedback from 83 early testnet community contributors to iteratively refine the application.</a:t>
            </a:r>
            <a:br/>
            <a:r>
              <a:t>• Implemented 8 core community-requested features: copy-to-clipboard functionality, real-time toast alerts, Light/Dark mode options, direct onboarding faucet access, and custom visual empty states.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Segoe UI"/>
              </a:defRPr>
            </a:pPr>
            <a:r>
              <a:t>PRODUCT DEVELOPMENT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Community Feedback &amp; Iteration Cycles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645920"/>
            <a:ext cx="3291840" cy="4114800"/>
          </a:xfrm>
          <a:prstGeom prst="roundRect">
            <a:avLst/>
          </a:prstGeom>
          <a:solidFill>
            <a:srgbClr val="121929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1645920"/>
            <a:ext cx="3291840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192024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6B6D4"/>
                </a:solidFill>
                <a:latin typeface="Segoe UI"/>
              </a:defRPr>
            </a:pPr>
            <a:r>
              <a:t>UX &amp; ACCESSIBILITY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2468880"/>
            <a:ext cx="28346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FFFFFF"/>
                </a:solidFill>
                <a:latin typeface="Segoe UI"/>
              </a:defRPr>
            </a:pPr>
            <a:r>
              <a:t>Before:</a:t>
            </a:r>
            <a:br/>
            <a:r>
              <a:t>Backers struggled to copy wallet addresses and contract IDs manually.</a:t>
            </a:r>
          </a:p>
          <a:p>
            <a:pPr>
              <a:spcAft>
                <a:spcPts val="800"/>
              </a:spcAft>
              <a:defRPr sz="1200" b="1">
                <a:solidFill>
                  <a:srgbClr val="FFFFFF"/>
                </a:solidFill>
                <a:latin typeface="Segoe UI"/>
              </a:defRPr>
            </a:pPr>
            <a:r>
              <a:t>After:</a:t>
            </a:r>
            <a:br/>
            <a:r>
              <a:t>Added copy-to-clipboard buttons and state-based toast notifications for success/failure.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645920"/>
            <a:ext cx="3291840" cy="4114800"/>
          </a:xfrm>
          <a:prstGeom prst="roundRect">
            <a:avLst/>
          </a:prstGeom>
          <a:solidFill>
            <a:srgbClr val="121929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34840" y="1645920"/>
            <a:ext cx="329184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192024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9E0B"/>
                </a:solidFill>
                <a:latin typeface="Segoe UI"/>
              </a:defRPr>
            </a:pPr>
            <a:r>
              <a:t>ONBOARDING FLOW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468880"/>
            <a:ext cx="28346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FFFFFF"/>
                </a:solidFill>
                <a:latin typeface="Segoe UI"/>
              </a:defRPr>
            </a:pPr>
            <a:r>
              <a:t>Before:</a:t>
            </a:r>
            <a:br/>
            <a:r>
              <a:t>No direct mechanism for testnet token funding for new users.</a:t>
            </a:r>
          </a:p>
          <a:p>
            <a:pPr>
              <a:spcAft>
                <a:spcPts val="800"/>
              </a:spcAft>
              <a:defRPr sz="1200" b="1">
                <a:solidFill>
                  <a:srgbClr val="FFFFFF"/>
                </a:solidFill>
                <a:latin typeface="Segoe UI"/>
              </a:defRPr>
            </a:pPr>
            <a:r>
              <a:t>After:</a:t>
            </a:r>
            <a:br/>
            <a:r>
              <a:t>Integrated an onboarding helper faucet button into the welcome modal for immediate setup.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80" y="1645920"/>
            <a:ext cx="3291840" cy="4114800"/>
          </a:xfrm>
          <a:prstGeom prst="roundRect">
            <a:avLst/>
          </a:prstGeom>
          <a:solidFill>
            <a:srgbClr val="121929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55280" y="1645920"/>
            <a:ext cx="3291840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83880" y="192024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6B6D4"/>
                </a:solidFill>
                <a:latin typeface="Segoe UI"/>
              </a:defRPr>
            </a:pPr>
            <a:r>
              <a:t>THEMING &amp; ACCENTS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83880" y="2468880"/>
            <a:ext cx="28346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FFFFFF"/>
                </a:solidFill>
                <a:latin typeface="Segoe UI"/>
              </a:defRPr>
            </a:pPr>
            <a:r>
              <a:t>Before:</a:t>
            </a:r>
            <a:br/>
            <a:r>
              <a:t>Rigid dark-only design with plain visual components.</a:t>
            </a:r>
          </a:p>
          <a:p>
            <a:pPr>
              <a:spcAft>
                <a:spcPts val="800"/>
              </a:spcAft>
              <a:defRPr sz="1200" b="1">
                <a:solidFill>
                  <a:srgbClr val="FFFFFF"/>
                </a:solidFill>
                <a:latin typeface="Segoe UI"/>
              </a:defRPr>
            </a:pPr>
            <a:r>
              <a:t>After:</a:t>
            </a:r>
            <a:br/>
            <a:r>
              <a:t>Implemented a system-wide Dark/Light mode toggle, customized styling, and SVG state loaders.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Segoe UI"/>
              </a:defRPr>
            </a:pPr>
            <a:r>
              <a:t>GROWTH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Ecosystem Growth &amp; Backer Retention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645920"/>
            <a:ext cx="4754880" cy="4114800"/>
          </a:xfrm>
          <a:prstGeom prst="roundRect">
            <a:avLst/>
          </a:prstGeom>
          <a:solidFill>
            <a:srgbClr val="121929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192024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6B6D4"/>
                </a:solidFill>
                <a:latin typeface="Segoe UI"/>
              </a:defRPr>
            </a:pPr>
            <a:r>
              <a:t>Onboarding &amp; Distribution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468880"/>
            <a:ext cx="42062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• Organic Sharing Options:</a:t>
            </a:r>
          </a:p>
          <a:p>
            <a:pPr>
              <a:spcAft>
                <a:spcPts val="1200"/>
              </a:spcAft>
              <a:defRPr sz="1300">
                <a:solidFill>
                  <a:srgbClr val="A0AEC0"/>
                </a:solidFill>
              </a:defRPr>
            </a:pPr>
            <a:r>
              <a:t>Embedded dynamic 'Share' button that copies custom campaign links directly to the clipboard, simplifying social media distribution.</a:t>
            </a:r>
          </a:p>
          <a:p>
            <a:pPr>
              <a:defRPr sz="1400" b="1">
                <a:solidFill>
                  <a:srgbClr val="FFFFFF"/>
                </a:solidFill>
              </a:defRPr>
            </a:pPr>
            <a:r>
              <a:t>• Frictionless Entry Point:</a:t>
            </a:r>
          </a:p>
          <a:p>
            <a:pPr>
              <a:defRPr sz="1300">
                <a:solidFill>
                  <a:srgbClr val="A0AEC0"/>
                </a:solidFill>
              </a:defRPr>
            </a:pPr>
            <a:r>
              <a:t>One-click Friendbot token minting on welcome modal allows Web3 novices to immediately fund demo campaigns.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1645920"/>
            <a:ext cx="4754880" cy="4114800"/>
          </a:xfrm>
          <a:prstGeom prst="roundRect">
            <a:avLst/>
          </a:prstGeom>
          <a:solidFill>
            <a:srgbClr val="121929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66560" y="192024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59E0B"/>
                </a:solidFill>
                <a:latin typeface="Segoe UI"/>
              </a:defRPr>
            </a:pPr>
            <a:r>
              <a:t>Engagement &amp; Gamification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0" y="2468880"/>
            <a:ext cx="42062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• Soulbound Badges (SBTs):</a:t>
            </a:r>
          </a:p>
          <a:p>
            <a:pPr>
              <a:spcAft>
                <a:spcPts val="1200"/>
              </a:spcAft>
              <a:defRPr sz="1300">
                <a:solidFill>
                  <a:srgbClr val="A0AEC0"/>
                </a:solidFill>
              </a:defRPr>
            </a:pPr>
            <a:r>
              <a:t>Donors are minted non-transferable reward badges (Spark, Glow, Supernova) directly matching their cumulative on-chain donation volume.</a:t>
            </a:r>
          </a:p>
          <a:p>
            <a:pPr>
              <a:defRPr sz="1400" b="1">
                <a:solidFill>
                  <a:srgbClr val="FFFFFF"/>
                </a:solidFill>
              </a:defRPr>
            </a:pPr>
            <a:r>
              <a:t>• Proof-of-Contribution Reputation:</a:t>
            </a:r>
          </a:p>
          <a:p>
            <a:pPr>
              <a:defRPr sz="1300">
                <a:solidFill>
                  <a:srgbClr val="A0AEC0"/>
                </a:solidFill>
              </a:defRPr>
            </a:pPr>
            <a:r>
              <a:t>Badges serve as proof of reputation across the ecosystem. Future updates will lock voting capabilities in other platforms to high-tier badge holders.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Segoe UI"/>
              </a:defRPr>
            </a:pPr>
            <a:r>
              <a:t>ROADMAP &amp; FUTURE GOALS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Project Development Roadmap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011680"/>
            <a:ext cx="2377440" cy="3291840"/>
          </a:xfrm>
          <a:prstGeom prst="roundRect">
            <a:avLst/>
          </a:prstGeom>
          <a:solidFill>
            <a:srgbClr val="121929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920240" y="1645920"/>
            <a:ext cx="365760" cy="36576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2860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6B6D4"/>
                </a:solidFill>
                <a:latin typeface="Segoe UI"/>
              </a:defRPr>
            </a:pPr>
            <a:r>
              <a:t>Phase 1: MVP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834640"/>
            <a:ext cx="2103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FFFFFF"/>
                </a:solidFill>
                <a:latin typeface="Segoe UI"/>
              </a:defRPr>
            </a:pPr>
            <a:r>
              <a:t>COMPLETED</a:t>
            </a:r>
          </a:p>
          <a:p>
            <a:pPr>
              <a:spcAft>
                <a:spcPts val="400"/>
              </a:spcAft>
              <a:defRPr sz="1100">
                <a:solidFill>
                  <a:srgbClr val="A0AEC0"/>
                </a:solidFill>
                <a:latin typeface="Segoe UI"/>
              </a:defRPr>
            </a:pPr>
            <a:r>
              <a:t>• Core Soroban contracts.</a:t>
            </a:r>
            <a:br/>
            <a:r>
              <a:t>• Mock client testing.</a:t>
            </a:r>
            <a:br/>
            <a:r>
              <a:t>• Initial milestone lock logic.</a:t>
            </a:r>
          </a:p>
        </p:txBody>
      </p:sp>
      <p:sp>
        <p:nvSpPr>
          <p:cNvPr id="9" name="Rectangle 8"/>
          <p:cNvSpPr/>
          <p:nvPr/>
        </p:nvSpPr>
        <p:spPr>
          <a:xfrm>
            <a:off x="3291840" y="1783080"/>
            <a:ext cx="274320" cy="3657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566160" y="2011680"/>
            <a:ext cx="2377440" cy="3291840"/>
          </a:xfrm>
          <a:prstGeom prst="roundRect">
            <a:avLst/>
          </a:prstGeom>
          <a:solidFill>
            <a:srgbClr val="121929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572000" y="1645920"/>
            <a:ext cx="365760" cy="36576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03320" y="22860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59E0B"/>
                </a:solidFill>
                <a:latin typeface="Segoe UI"/>
              </a:defRPr>
            </a:pPr>
            <a:r>
              <a:t>Phase 2: Growth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3320" y="2834640"/>
            <a:ext cx="2103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FFFFFF"/>
                </a:solidFill>
                <a:latin typeface="Segoe UI"/>
              </a:defRPr>
            </a:pPr>
            <a:r>
              <a:t>IN PROGRESS</a:t>
            </a:r>
          </a:p>
          <a:p>
            <a:pPr>
              <a:spcAft>
                <a:spcPts val="400"/>
              </a:spcAft>
              <a:defRPr sz="1100">
                <a:solidFill>
                  <a:srgbClr val="A0AEC0"/>
                </a:solidFill>
                <a:latin typeface="Segoe UI"/>
              </a:defRPr>
            </a:pPr>
            <a:r>
              <a:t>• Stellar Testnet launch.</a:t>
            </a:r>
            <a:br/>
            <a:r>
              <a:t>• 80+ unique user interactions.</a:t>
            </a:r>
            <a:br/>
            <a:r>
              <a:t>• Community feedback and fixes.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0" y="1783080"/>
            <a:ext cx="274320" cy="3657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17920" y="2011680"/>
            <a:ext cx="2377440" cy="3291840"/>
          </a:xfrm>
          <a:prstGeom prst="roundRect">
            <a:avLst/>
          </a:prstGeom>
          <a:solidFill>
            <a:srgbClr val="121929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223760" y="1645920"/>
            <a:ext cx="365760" cy="3657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22860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Phase 3: Security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2834640"/>
            <a:ext cx="2103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FFFFFF"/>
                </a:solidFill>
                <a:latin typeface="Segoe UI"/>
              </a:defRPr>
            </a:pPr>
            <a:r>
              <a:t>Q3 2026</a:t>
            </a:r>
          </a:p>
          <a:p>
            <a:pPr>
              <a:spcAft>
                <a:spcPts val="400"/>
              </a:spcAft>
              <a:defRPr sz="1100">
                <a:solidFill>
                  <a:srgbClr val="A0AEC0"/>
                </a:solidFill>
                <a:latin typeface="Segoe UI"/>
              </a:defRPr>
            </a:pPr>
            <a:r>
              <a:t>• Smart contract security audit.</a:t>
            </a:r>
            <a:br/>
            <a:r>
              <a:t>• Mainnet deploy preparation.</a:t>
            </a:r>
            <a:br/>
            <a:r>
              <a:t>• Public beta launch.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595360" y="1783080"/>
            <a:ext cx="274320" cy="3657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869680" y="2011680"/>
            <a:ext cx="2377440" cy="3291840"/>
          </a:xfrm>
          <a:prstGeom prst="roundRect">
            <a:avLst/>
          </a:prstGeom>
          <a:solidFill>
            <a:srgbClr val="121929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875520" y="1645920"/>
            <a:ext cx="365760" cy="36576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06840" y="22860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6B6D4"/>
                </a:solidFill>
                <a:latin typeface="Segoe UI"/>
              </a:defRPr>
            </a:pPr>
            <a:r>
              <a:t>Phase 4: Scaling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06840" y="2834640"/>
            <a:ext cx="2103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FFFFFF"/>
                </a:solidFill>
                <a:latin typeface="Segoe UI"/>
              </a:defRPr>
            </a:pPr>
            <a:r>
              <a:t>Q4 2026</a:t>
            </a:r>
          </a:p>
          <a:p>
            <a:pPr>
              <a:spcAft>
                <a:spcPts val="400"/>
              </a:spcAft>
              <a:defRPr sz="1100">
                <a:solidFill>
                  <a:srgbClr val="A0AEC0"/>
                </a:solidFill>
                <a:latin typeface="Segoe UI"/>
              </a:defRPr>
            </a:pPr>
            <a:r>
              <a:t>• Stellar Anchor integration.</a:t>
            </a:r>
            <a:br/>
            <a:r>
              <a:t>• Fiat onboarding.</a:t>
            </a:r>
            <a:br/>
            <a:r>
              <a:t>• SBT multi-dApp integration.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Segoe UI"/>
              </a:defRPr>
            </a:pPr>
            <a:r>
              <a:t>ECOSYSTEM 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Empowering Public Goods: Our Ask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828800"/>
            <a:ext cx="4754880" cy="3840480"/>
          </a:xfrm>
          <a:prstGeom prst="roundRect">
            <a:avLst/>
          </a:prstGeom>
          <a:solidFill>
            <a:srgbClr val="121929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210312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59E0B"/>
                </a:solidFill>
                <a:latin typeface="Segoe UI"/>
              </a:defRPr>
            </a:pPr>
            <a:r>
              <a:t>Project Vision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743200"/>
            <a:ext cx="42062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• Open Source Infrastructure:</a:t>
            </a:r>
          </a:p>
          <a:p>
            <a:pPr>
              <a:spcAft>
                <a:spcPts val="1200"/>
              </a:spcAft>
              <a:defRPr sz="1300">
                <a:solidFill>
                  <a:srgbClr val="A0AEC0"/>
                </a:solidFill>
              </a:defRPr>
            </a:pPr>
            <a:r>
              <a:t>Lumenova is built as a public good to secure crowdfunding transparently. The code is 100% open-source.</a:t>
            </a:r>
          </a:p>
          <a:p>
            <a:pPr>
              <a:defRPr sz="1400" b="1">
                <a:solidFill>
                  <a:srgbClr val="FFFFFF"/>
                </a:solidFill>
              </a:defRPr>
            </a:pPr>
            <a:r>
              <a:t>• Community First:</a:t>
            </a:r>
          </a:p>
          <a:p>
            <a:pPr>
              <a:defRPr sz="1300">
                <a:solidFill>
                  <a:srgbClr val="A0AEC0"/>
                </a:solidFill>
              </a:defRPr>
            </a:pPr>
            <a:r>
              <a:t>We focus on aligning incentives between project builders and micro-donors, minimizing Web3 onboarding friction.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1828800"/>
            <a:ext cx="4754880" cy="3840480"/>
          </a:xfrm>
          <a:prstGeom prst="roundRect">
            <a:avLst/>
          </a:prstGeom>
          <a:solidFill>
            <a:srgbClr val="121929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66560" y="210312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6B6D4"/>
                </a:solidFill>
                <a:latin typeface="Segoe UI"/>
              </a:defRPr>
            </a:pPr>
            <a:r>
              <a:t>Ecosystem Support Needed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0" y="2743200"/>
            <a:ext cx="42062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• Smart Contract Auditing:</a:t>
            </a:r>
          </a:p>
          <a:p>
            <a:pPr>
              <a:spcAft>
                <a:spcPts val="1200"/>
              </a:spcAft>
              <a:defRPr sz="1300">
                <a:solidFill>
                  <a:srgbClr val="A0AEC0"/>
                </a:solidFill>
              </a:defRPr>
            </a:pPr>
            <a:r>
              <a:t>Seeking partnerships with auditing teams to review escrow and badge contract security prior to Mainnet deployment.</a:t>
            </a:r>
          </a:p>
          <a:p>
            <a:pPr>
              <a:defRPr sz="1400" b="1">
                <a:solidFill>
                  <a:srgbClr val="A0AEC0"/>
                </a:solidFill>
              </a:defRPr>
            </a:pPr>
            <a:r>
              <a:t>• Anchor Integration &amp; Pilot Projects:</a:t>
            </a:r>
          </a:p>
          <a:p>
            <a:pPr>
              <a:defRPr sz="1300">
                <a:solidFill>
                  <a:srgbClr val="A0AEC0"/>
                </a:solidFill>
              </a:defRPr>
            </a:pPr>
            <a:r>
              <a:t>Looking for partners to pilot test the milestone-escrow framework for real-world charitable giving and local grants.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59E0B"/>
                </a:solidFill>
                <a:latin typeface="Trebuchet MS"/>
              </a:defRPr>
            </a:pPr>
            <a:r>
              <a:t>Empower Trust. Build Together.</a:t>
            </a:r>
          </a:p>
          <a:p>
            <a:pPr algn="ctr">
              <a:spcBef>
                <a:spcPts val="1500"/>
              </a:spcBef>
              <a:defRPr sz="1800">
                <a:solidFill>
                  <a:srgbClr val="A0AEC0"/>
                </a:solidFill>
                <a:latin typeface="Segoe UI"/>
              </a:defRPr>
            </a:pPr>
            <a:r>
              <a:t>Bringing transparency and community-led alignment to global crowdfunding.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3657600"/>
            <a:ext cx="3108960" cy="2011680"/>
          </a:xfrm>
          <a:prstGeom prst="roundRect">
            <a:avLst/>
          </a:prstGeom>
          <a:solidFill>
            <a:srgbClr val="121929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384048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6B6D4"/>
                </a:solidFill>
                <a:latin typeface="Segoe UI"/>
              </a:defRPr>
            </a:pPr>
            <a:r>
              <a:t>GitHub Repository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4297680"/>
            <a:ext cx="2834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AEC0"/>
                </a:solidFill>
                <a:latin typeface="Segoe UI"/>
              </a:defRPr>
            </a:pPr>
            <a:r>
              <a:t>github.com/Abhishek86038/Lumenova-A5</a:t>
            </a:r>
            <a:br/>
            <a:br/>
            <a:r>
              <a:t>[ Check code and commits 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3657600"/>
            <a:ext cx="3108960" cy="2011680"/>
          </a:xfrm>
          <a:prstGeom prst="roundRect">
            <a:avLst/>
          </a:prstGeom>
          <a:solidFill>
            <a:srgbClr val="121929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384048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59E0B"/>
                </a:solidFill>
                <a:latin typeface="Segoe UI"/>
              </a:defRPr>
            </a:pPr>
            <a:r>
              <a:t>Live Demonstration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7720" y="4297680"/>
            <a:ext cx="2834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AEC0"/>
                </a:solidFill>
                <a:latin typeface="Segoe UI"/>
              </a:defRPr>
            </a:pPr>
            <a:r>
              <a:t>lumenova-a5.vercel.app</a:t>
            </a:r>
            <a:br/>
            <a:br/>
            <a:r>
              <a:t>[ Access on Testnet 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3657600"/>
            <a:ext cx="3108960" cy="2011680"/>
          </a:xfrm>
          <a:prstGeom prst="roundRect">
            <a:avLst/>
          </a:prstGeom>
          <a:solidFill>
            <a:srgbClr val="121929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83880" y="384048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6B6D4"/>
                </a:solidFill>
                <a:latin typeface="Segoe UI"/>
              </a:defRPr>
            </a:pPr>
            <a:r>
              <a:t>Developer Contact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83880" y="4297680"/>
            <a:ext cx="2834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AEC0"/>
                </a:solidFill>
                <a:latin typeface="Segoe UI"/>
              </a:defRPr>
            </a:pPr>
            <a:r>
              <a:t>Abhishek / Team</a:t>
            </a:r>
            <a:br/>
            <a:r>
              <a:t>[ abhishek@example.com ]</a:t>
            </a:r>
            <a:br/>
            <a:br/>
            <a:r>
              <a:t>[ Say hello! 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
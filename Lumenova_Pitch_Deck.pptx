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1371600"/>
            <a:ext cx="4114800" cy="4114800"/>
          </a:xfrm>
          <a:prstGeom prst="ellipse">
            <a:avLst/>
          </a:prstGeom>
          <a:solidFill>
            <a:srgbClr val="0C1427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2286000"/>
            <a:ext cx="2286000" cy="2286000"/>
          </a:xfrm>
          <a:prstGeom prst="ellipse">
            <a:avLst/>
          </a:prstGeom>
          <a:solidFill>
            <a:srgbClr val="10203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6858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400" b="1">
                <a:solidFill>
                  <a:srgbClr val="FFFFFF"/>
                </a:solidFill>
                <a:latin typeface="Trebuchet MS"/>
              </a:defRPr>
            </a:pPr>
            <a:r>
              <a:t>LUMENOVA</a:t>
            </a:r>
          </a:p>
          <a:p>
            <a:pPr>
              <a:spcBef>
                <a:spcPts val="1500"/>
              </a:spcBef>
              <a:defRPr sz="2200" b="1">
                <a:solidFill>
                  <a:srgbClr val="F59E0B"/>
                </a:solidFill>
                <a:latin typeface="Segoe UI"/>
              </a:defRPr>
            </a:pPr>
            <a:r>
              <a:t>Trustless Crowdfunding &amp; Milestone-Based Escrow</a:t>
            </a:r>
          </a:p>
          <a:p>
            <a:pPr>
              <a:spcBef>
                <a:spcPts val="1000"/>
              </a:spcBef>
              <a:defRPr sz="1400">
                <a:solidFill>
                  <a:srgbClr val="A0AEC0"/>
                </a:solidFill>
                <a:latin typeface="Segoe UI"/>
              </a:defRPr>
            </a:pPr>
            <a:r>
              <a:t>Empowering transparent project funding on Stellar Soroban through community governance, weighted on-chain voting, and soulbound badges.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029200"/>
            <a:ext cx="2926080" cy="548640"/>
          </a:xfrm>
          <a:prstGeom prst="roundRect">
            <a:avLst/>
          </a:prstGeom>
          <a:solidFill>
            <a:srgbClr val="0F172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6B6D4"/>
                </a:solidFill>
                <a:latin typeface="Segoe UI"/>
              </a:defRPr>
            </a:pPr>
            <a:r>
              <a:t>✦ Built for Stellar Builder Challenge L5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The Critical Trust Gap in Crowdfunding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4754880" cy="41148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Traditional Escrow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68880"/>
            <a:ext cx="4206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• 100% Upfront Disbursement:</a:t>
            </a:r>
          </a:p>
          <a:p>
            <a:pPr>
              <a:spcAft>
                <a:spcPts val="1200"/>
              </a:spcAft>
              <a:defRPr sz="1300">
                <a:solidFill>
                  <a:srgbClr val="A0AEC0"/>
                </a:solidFill>
              </a:defRPr>
            </a:pPr>
            <a:r>
              <a:t>Creators receive all capital upon campaign success, leaving backers with zero leverage.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• No Ongoing Verification:</a:t>
            </a:r>
          </a:p>
          <a:p>
            <a:pPr>
              <a:spcAft>
                <a:spcPts val="1200"/>
              </a:spcAft>
              <a:defRPr sz="1300">
                <a:solidFill>
                  <a:srgbClr val="A0AEC0"/>
                </a:solidFill>
              </a:defRPr>
            </a:pPr>
            <a:r>
              <a:t>No mechanism exists to verify if project milestones are actually reached before funds are spent.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• High Risk of Capital Loss: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If a campaign is abandoned or delayed, donors have no recourse and cannot retrieve their funds.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43600" y="3200400"/>
            <a:ext cx="365760" cy="731520"/>
          </a:xfrm>
          <a:prstGeom prst="right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92240" y="1645920"/>
            <a:ext cx="4754880" cy="41148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19202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Segoe UI"/>
              </a:defRPr>
            </a:pPr>
            <a:r>
              <a:t>The Backer's Risk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468880"/>
            <a:ext cx="4206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• Blind Trust Dependency:</a:t>
            </a:r>
          </a:p>
          <a:p>
            <a:pPr>
              <a:spcAft>
                <a:spcPts val="1200"/>
              </a:spcAft>
              <a:defRPr sz="1300">
                <a:solidFill>
                  <a:srgbClr val="A0AEC0"/>
                </a:solidFill>
              </a:defRPr>
            </a:pPr>
            <a:r>
              <a:t>Backers are forced to trust social media updates or written reports, which can be easily fabricated.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• Platform Centralization:</a:t>
            </a:r>
          </a:p>
          <a:p>
            <a:pPr>
              <a:spcAft>
                <a:spcPts val="1200"/>
              </a:spcAft>
              <a:defRPr sz="1300">
                <a:solidFill>
                  <a:srgbClr val="A0AEC0"/>
                </a:solidFill>
              </a:defRPr>
            </a:pPr>
            <a:r>
              <a:t>Web2 platforms take massive cuts (5-10%) and can freeze accounts arbitrarily without community consensus.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• Disincentivized Backers: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Lack of alignment of incentives leads to low conversion rates, trust fatigue, and fewer repeating donors.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Lumenova's Milestone-Gated Escrow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A0AEC0"/>
                </a:solidFill>
                <a:latin typeface="Segoe UI"/>
              </a:defRPr>
            </a:pPr>
            <a:r>
              <a:t>Lumenova shifts the power balance back to the community by introducing a 4-milestone smart escrow contract. Funds are unlocked in 25% tranches only after cryptographic proof is verified and approved on-chain by the donors.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2377440" cy="36576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011680"/>
            <a:ext cx="237744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Segoe UI"/>
              </a:defRPr>
            </a:pPr>
            <a:r>
              <a:t>01. Donate &amp; 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2011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Segoe UI"/>
              </a:defRPr>
            </a:pPr>
            <a:r>
              <a:t>Funds are securely locked in the Soroban smart contract escrow. Donors receive Soulbound badge tokens representing governance rights.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37560" y="3657600"/>
            <a:ext cx="182880" cy="274320"/>
          </a:xfrm>
          <a:prstGeom prst="rightArrow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2011680"/>
            <a:ext cx="2377440" cy="36576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66160" y="2011680"/>
            <a:ext cx="2377440" cy="91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23774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02. Reach &amp; Submit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108960"/>
            <a:ext cx="2011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Segoe UI"/>
              </a:defRPr>
            </a:pPr>
            <a:r>
              <a:t>Creator builds the project and completes a milestone. Creator submits progress proof (hash/IPFS link) to the smart contract.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89320" y="3657600"/>
            <a:ext cx="182880" cy="274320"/>
          </a:xfrm>
          <a:prstGeom prst="rightArrow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2011680"/>
            <a:ext cx="2377440" cy="36576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011680"/>
            <a:ext cx="237744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3774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03. Weighted Vote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08960"/>
            <a:ext cx="2011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Segoe UI"/>
              </a:defRPr>
            </a:pPr>
            <a:r>
              <a:t>Donors vote to approve or reject the submitted proof. Votes are dynamically weighted based on individual donation amounts.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641080" y="3657600"/>
            <a:ext cx="182880" cy="274320"/>
          </a:xfrm>
          <a:prstGeom prst="rightArrow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69680" y="2011680"/>
            <a:ext cx="2377440" cy="36576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69680" y="2011680"/>
            <a:ext cx="237744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23774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Segoe UI"/>
              </a:defRPr>
            </a:pPr>
            <a:r>
              <a:t>04. Release / Refund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108960"/>
            <a:ext cx="2011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Segoe UI"/>
              </a:defRPr>
            </a:pPr>
            <a:r>
              <a:t>Approved: 25% of funds are released to creator. Rejected: Donors can instantly claim a refund for their remaining 25% share.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PRODUCT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Intuitive Web3 Onboarding &amp;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2377440" cy="420624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Segoe UI"/>
              </a:defRPr>
            </a:pPr>
            <a:r>
              <a:t>1. Wallet Onboarding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377440"/>
            <a:ext cx="2011680" cy="1645920"/>
          </a:xfrm>
          <a:prstGeom prst="rect">
            <a:avLst/>
          </a:prstGeom>
          <a:solidFill>
            <a:srgbClr val="0C111E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6B6D4"/>
                </a:solidFill>
                <a:latin typeface="Segoe UI"/>
              </a:defRPr>
            </a:pPr>
            <a:r>
              <a:t>[ SCREENSHOT: image-2.png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0624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Segoe UI"/>
              </a:defRPr>
            </a:pPr>
            <a:r>
              <a:t>Frictionless connection using Freighter Wallet. Integrated with Stellar's Testnet Friendbot for automated, one-click test funds.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377440" cy="420624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Segoe UI"/>
              </a:defRPr>
            </a:pPr>
            <a:r>
              <a:t>2. Interactive Grid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2377440"/>
            <a:ext cx="2011680" cy="1645920"/>
          </a:xfrm>
          <a:prstGeom prst="rect">
            <a:avLst/>
          </a:prstGeom>
          <a:solidFill>
            <a:srgbClr val="0C111E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274320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6B6D4"/>
                </a:solidFill>
                <a:latin typeface="Segoe UI"/>
              </a:defRPr>
            </a:pPr>
            <a:r>
              <a:t>[ SCREENSHOT: image.png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20624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Segoe UI"/>
              </a:defRPr>
            </a:pPr>
            <a:r>
              <a:t>Visually displays active campaigns, milestone statuses, and escrow progress. Updates dynamically via Soroban event streaming.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2377440" cy="420624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Segoe UI"/>
              </a:defRPr>
            </a:pPr>
            <a:r>
              <a:t>3. Trustless Escrow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377440"/>
            <a:ext cx="2011680" cy="1645920"/>
          </a:xfrm>
          <a:prstGeom prst="rect">
            <a:avLst/>
          </a:prstGeom>
          <a:solidFill>
            <a:srgbClr val="0C111E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74320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6B6D4"/>
                </a:solidFill>
                <a:latin typeface="Segoe UI"/>
              </a:defRPr>
            </a:pPr>
            <a:r>
              <a:t>[ SCREENSHOT: image-1.png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20624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Segoe UI"/>
              </a:defRPr>
            </a:pPr>
            <a:r>
              <a:t>Real-time copy-to-clipboard buttons, instant status toasts, and dynamic SVG progress gauges indicating target completion rates.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0" y="1645920"/>
            <a:ext cx="2377440" cy="420624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Segoe UI"/>
              </a:defRPr>
            </a:pPr>
            <a:r>
              <a:t>4. Community Voting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2377440"/>
            <a:ext cx="2011680" cy="1645920"/>
          </a:xfrm>
          <a:prstGeom prst="rect">
            <a:avLst/>
          </a:prstGeom>
          <a:solidFill>
            <a:srgbClr val="0C111E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274320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6B6D4"/>
                </a:solidFill>
                <a:latin typeface="Segoe UI"/>
              </a:defRPr>
            </a:pPr>
            <a:r>
              <a:t>[ SCREENSHOT: image.png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420624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Segoe UI"/>
              </a:defRPr>
            </a:pPr>
            <a:r>
              <a:t>Backers can cast weighted votes. If a milestone is rejected, they can claim a refund via the refund() transaction on the contract.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Capturing the Web3 &amp; Social Good Market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4754880" cy="41148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19202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B6D4"/>
                </a:solidFill>
                <a:latin typeface="Segoe UI"/>
              </a:defRPr>
            </a:pPr>
            <a:r>
              <a:t>Market Size &amp;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468880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• $25B+ Crowdfunding Market:</a:t>
            </a:r>
          </a:p>
          <a:p>
            <a:pPr>
              <a:spcAft>
                <a:spcPts val="1200"/>
              </a:spcAft>
              <a:defRPr sz="1300">
                <a:solidFill>
                  <a:srgbClr val="A0AEC0"/>
                </a:solidFill>
              </a:defRPr>
            </a:pPr>
            <a:r>
              <a:t>The global market is expanding, yet transaction costs, delays, and lack of transparency remain major pain points.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• Trust Deficit:</a:t>
            </a:r>
          </a:p>
          <a:p>
            <a:pPr>
              <a:spcAft>
                <a:spcPts val="1200"/>
              </a:spcAft>
              <a:defRPr sz="1300">
                <a:solidFill>
                  <a:srgbClr val="A0AEC0"/>
                </a:solidFill>
              </a:defRPr>
            </a:pPr>
            <a:r>
              <a:t>Over 12% of crowdfunding campaigns face delays or fail to deliver entirely, dampening donor confidence.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• Decentralized Giving (Web3):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Decentralized donation volume has surged by 400% over the last three years, demanding trustless solutions.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645920"/>
            <a:ext cx="4754880" cy="41148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9202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Segoe UI"/>
              </a:defRPr>
            </a:pPr>
            <a:r>
              <a:t>Why Build on Stellar?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468880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• Low Cost &amp; Fast Finality:</a:t>
            </a:r>
          </a:p>
          <a:p>
            <a:pPr>
              <a:spcAft>
                <a:spcPts val="1200"/>
              </a:spcAft>
              <a:defRPr sz="1300">
                <a:solidFill>
                  <a:srgbClr val="A0AEC0"/>
                </a:solidFill>
              </a:defRPr>
            </a:pPr>
            <a:r>
              <a:t>Stellar ensures micro-donations are economically viable, with sub-cent network transaction fees.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• Interoperability &amp; Anchors:</a:t>
            </a:r>
          </a:p>
          <a:p>
            <a:pPr>
              <a:spcAft>
                <a:spcPts val="1200"/>
              </a:spcAft>
              <a:defRPr sz="1300">
                <a:solidFill>
                  <a:srgbClr val="A0AEC0"/>
                </a:solidFill>
              </a:defRPr>
            </a:pPr>
            <a:r>
              <a:t>Simplifies local currency on/off ramping, allowing non-crypto users to participate globally.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• Soroban Rust Smart Contracts: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Safe, execution-optimized WASM runtime for trustless, multi-contract escrow and voting logic.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Decoupled &amp; Scalable Smart Contract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920240" cy="384048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  <a:latin typeface="Segoe UI"/>
              </a:defRPr>
            </a:pPr>
            <a:r>
              <a:t>1. Frontend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43200"/>
            <a:ext cx="1645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Segoe UI"/>
              </a:defRPr>
            </a:pPr>
            <a:r>
              <a:t>React / Vite / TypeScript</a:t>
            </a:r>
            <a:br/>
            <a:br/>
            <a:r>
              <a:t>• Fetches contract state via RPC.</a:t>
            </a:r>
            <a:br/>
            <a:r>
              <a:t>• Custom SVG progress widgets.</a:t>
            </a:r>
            <a:br/>
            <a:r>
              <a:t>• Real-time state-based toast notifications.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71216" y="3657600"/>
            <a:ext cx="91440" cy="182880"/>
          </a:xfrm>
          <a:prstGeom prst="rightArrow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99232" y="1828800"/>
            <a:ext cx="1920240" cy="384048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36392" y="21031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2. Wallet / SDK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2743200"/>
            <a:ext cx="1645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Segoe UI"/>
              </a:defRPr>
            </a:pPr>
            <a:r>
              <a:t>Freighter Wallet &amp; SDK</a:t>
            </a:r>
            <a:br/>
            <a:br/>
            <a:r>
              <a:t>• Secure transaction signature.</a:t>
            </a:r>
            <a:br/>
            <a:r>
              <a:t>• Interacts with Horizon Server &amp; Soroban RPC endpoint.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56048" y="3657600"/>
            <a:ext cx="91440" cy="182880"/>
          </a:xfrm>
          <a:prstGeom prst="rightArrow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84064" y="1828800"/>
            <a:ext cx="1920240" cy="384048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21224" y="21031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Segoe UI"/>
              </a:defRPr>
            </a:pPr>
            <a:r>
              <a:t>3. Escrow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1224" y="2743200"/>
            <a:ext cx="1645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Segoe UI"/>
              </a:defRPr>
            </a:pPr>
            <a:r>
              <a:t>Crowdfunding (Soroban)</a:t>
            </a:r>
            <a:br/>
            <a:br/>
            <a:r>
              <a:t>• Stores milestones, goals.</a:t>
            </a:r>
            <a:br/>
            <a:r>
              <a:t>• Manages escrow balances.</a:t>
            </a:r>
            <a:br/>
            <a:r>
              <a:t>• Publishes custom events.</a:t>
            </a:r>
            <a:br/>
            <a:r>
              <a:t>• Performs voting checks.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40880" y="3657600"/>
            <a:ext cx="91440" cy="182880"/>
          </a:xfrm>
          <a:prstGeom prst="rightArrow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68896" y="1828800"/>
            <a:ext cx="1920240" cy="384048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06056" y="21031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4. Badge Contract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6056" y="2743200"/>
            <a:ext cx="1645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Segoe UI"/>
              </a:defRPr>
            </a:pPr>
            <a:r>
              <a:t>Rewards Badge (Soroban)</a:t>
            </a:r>
            <a:br/>
            <a:br/>
            <a:r>
              <a:t>• Soulbound badge tiers.</a:t>
            </a:r>
            <a:br/>
            <a:r>
              <a:t>• Multi-contract mint call.</a:t>
            </a:r>
            <a:br/>
            <a:r>
              <a:t>• Custom mint authorizations (`set_minter`).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125712" y="3657600"/>
            <a:ext cx="91440" cy="182880"/>
          </a:xfrm>
          <a:prstGeom prst="rightArrow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53728" y="1828800"/>
            <a:ext cx="1920240" cy="384048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90888" y="21031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  <a:latin typeface="Segoe UI"/>
              </a:defRPr>
            </a:pPr>
            <a:r>
              <a:t>5. Ledger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743200"/>
            <a:ext cx="1645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Segoe UI"/>
              </a:defRPr>
            </a:pPr>
            <a:r>
              <a:t>Stellar Testnet Network</a:t>
            </a:r>
            <a:br/>
            <a:br/>
            <a:r>
              <a:t>• finality under 5s.</a:t>
            </a:r>
            <a:br/>
            <a:r>
              <a:t>• Low fee processing.</a:t>
            </a:r>
            <a:br/>
            <a:r>
              <a:t>• Immutable ledger records.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TRACTION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Early Testnet Traction &amp; Growth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3108960" cy="18288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59E0B"/>
                </a:solidFill>
                <a:latin typeface="Segoe UI"/>
              </a:defRPr>
            </a:pPr>
            <a:r>
              <a:t>87+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Active Wallets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Segoe UI"/>
              </a:defRPr>
            </a:pPr>
            <a:r>
              <a:t>Onboarded testnet users participating in campaigns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45920"/>
            <a:ext cx="3108960" cy="18288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8288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59E0B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On-Chain Donations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7432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Segoe UI"/>
              </a:defRPr>
            </a:pPr>
            <a:r>
              <a:t>Successful crowdfunding escrow transactions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108960" cy="18288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288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59E0B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Verification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7432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Segoe UI"/>
              </a:defRPr>
            </a:pPr>
            <a:r>
              <a:t>On-chain voting success and validation of proofs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931920"/>
            <a:ext cx="10332720" cy="18288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420624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Segoe UI"/>
              </a:defRPr>
            </a:pPr>
            <a:r>
              <a:t>Community-Driven Product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57200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AEC0"/>
                </a:solidFill>
                <a:latin typeface="Segoe UI"/>
              </a:defRPr>
            </a:pPr>
            <a:r>
              <a:t>• Leveraged active feedback from 83 early testnet community contributors to iteratively refine the application.</a:t>
            </a:r>
            <a:br/>
            <a:r>
              <a:t>• Implemented 8 core community-requested features: copy-to-clipboard functionality, real-time toast alerts, Light/Dark mode options, direct onboarding faucet access, and custom visual empty states.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PRODUCT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Community Feedback &amp; Iteration Cycles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3291840" cy="41148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329184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Segoe UI"/>
              </a:defRPr>
            </a:pPr>
            <a:r>
              <a:t>UX &amp; ACCESSIBILITY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6888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Before:</a:t>
            </a:r>
            <a:br/>
            <a:r>
              <a:t>Backers struggled to copy wallet addresses and contract IDs manually.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After:</a:t>
            </a:r>
            <a:br/>
            <a:r>
              <a:t>Added copy-to-clipboard buttons and state-based toast notifications for success/failure.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645920"/>
            <a:ext cx="3291840" cy="41148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645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Segoe UI"/>
              </a:defRPr>
            </a:pPr>
            <a:r>
              <a:t>ONBOARDING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46888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Before:</a:t>
            </a:r>
            <a:br/>
            <a:r>
              <a:t>No direct mechanism for testnet token funding for new users.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After:</a:t>
            </a:r>
            <a:br/>
            <a:r>
              <a:t>Integrated an onboarding helper faucet button into the welcome modal for immediate setup.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645920"/>
            <a:ext cx="3291840" cy="41148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80" y="1645920"/>
            <a:ext cx="329184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Segoe UI"/>
              </a:defRPr>
            </a:pPr>
            <a:r>
              <a:t>THEMING &amp; ACCENTS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46888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Before:</a:t>
            </a:r>
            <a:br/>
            <a:r>
              <a:t>Rigid dark-only design with plain visual components.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After:</a:t>
            </a:r>
            <a:br/>
            <a:r>
              <a:t>Implemented a system-wide Dark/Light mode toggle, customized styling, and SVG state loaders.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GROWTH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Ecosystem Growth &amp; Backer Retention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4754880" cy="41148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B6D4"/>
                </a:solidFill>
                <a:latin typeface="Segoe UI"/>
              </a:defRPr>
            </a:pPr>
            <a:r>
              <a:t>Onboarding &amp;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68880"/>
            <a:ext cx="4206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• Organic Sharing Options:</a:t>
            </a:r>
          </a:p>
          <a:p>
            <a:pPr>
              <a:spcAft>
                <a:spcPts val="1200"/>
              </a:spcAft>
              <a:defRPr sz="1300">
                <a:solidFill>
                  <a:srgbClr val="A0AEC0"/>
                </a:solidFill>
              </a:defRPr>
            </a:pPr>
            <a:r>
              <a:t>Embedded dynamic 'Share' button that copies custom campaign links directly to the clipboard, simplifying social media distribution.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• Frictionless Entry Point: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One-click Friendbot token minting on welcome modal allows Web3 novices to immediately fund demo campaigns.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645920"/>
            <a:ext cx="4754880" cy="411480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9202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Segoe UI"/>
              </a:defRPr>
            </a:pPr>
            <a:r>
              <a:t>Engagement &amp; Gamification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468880"/>
            <a:ext cx="4206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• Soulbound Badges (SBTs):</a:t>
            </a:r>
          </a:p>
          <a:p>
            <a:pPr>
              <a:spcAft>
                <a:spcPts val="1200"/>
              </a:spcAft>
              <a:defRPr sz="1300">
                <a:solidFill>
                  <a:srgbClr val="A0AEC0"/>
                </a:solidFill>
              </a:defRPr>
            </a:pPr>
            <a:r>
              <a:t>Donors are minted non-transferable reward badges (Spark, Glow, Supernova) directly matching their cumulative on-chain donation volume.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• Proof-of-Contribution Reputation: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Badges serve as proof of reputation across the ecosystem. Future updates will lock voting capabilities in other platforms to high-tier badge holders.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ROADMAP &amp; FUTURE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Project Development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2377440" cy="329184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20240" y="164592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6B6D4"/>
                </a:solidFill>
                <a:latin typeface="Segoe UI"/>
              </a:defRPr>
            </a:pPr>
            <a:r>
              <a:t>Phase 1: MVP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3464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COMPLETED</a:t>
            </a:r>
          </a:p>
          <a:p>
            <a:pPr>
              <a:spcAft>
                <a:spcPts val="400"/>
              </a:spcAft>
              <a:defRPr sz="1100">
                <a:solidFill>
                  <a:srgbClr val="A0AEC0"/>
                </a:solidFill>
                <a:latin typeface="Segoe UI"/>
              </a:defRPr>
            </a:pPr>
            <a:r>
              <a:t>• Core Soroban contracts.</a:t>
            </a:r>
            <a:br/>
            <a:r>
              <a:t>• Mock client testing.</a:t>
            </a:r>
            <a:br/>
            <a:r>
              <a:t>• Initial milestone lock logic.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783080"/>
            <a:ext cx="274320" cy="3657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66160" y="2011680"/>
            <a:ext cx="2377440" cy="329184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6459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286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9E0B"/>
                </a:solidFill>
                <a:latin typeface="Segoe UI"/>
              </a:defRPr>
            </a:pPr>
            <a:r>
              <a:t>Phase 2: Growth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83464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IN PROGRESS</a:t>
            </a:r>
          </a:p>
          <a:p>
            <a:pPr>
              <a:spcAft>
                <a:spcPts val="400"/>
              </a:spcAft>
              <a:defRPr sz="1100">
                <a:solidFill>
                  <a:srgbClr val="A0AEC0"/>
                </a:solidFill>
                <a:latin typeface="Segoe UI"/>
              </a:defRPr>
            </a:pPr>
            <a:r>
              <a:t>• Stellar Testnet launch.</a:t>
            </a:r>
            <a:br/>
            <a:r>
              <a:t>• 80+ unique user interactions.</a:t>
            </a:r>
            <a:br/>
            <a:r>
              <a:t>• Community feedback and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783080"/>
            <a:ext cx="274320" cy="3657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2011680"/>
            <a:ext cx="2377440" cy="329184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16459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286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Phase 3: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83464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Q3 2026</a:t>
            </a:r>
          </a:p>
          <a:p>
            <a:pPr>
              <a:spcAft>
                <a:spcPts val="400"/>
              </a:spcAft>
              <a:defRPr sz="1100">
                <a:solidFill>
                  <a:srgbClr val="A0AEC0"/>
                </a:solidFill>
                <a:latin typeface="Segoe UI"/>
              </a:defRPr>
            </a:pPr>
            <a:r>
              <a:t>• Smart contract security audit.</a:t>
            </a:r>
            <a:br/>
            <a:r>
              <a:t>• Mainnet deploy preparation.</a:t>
            </a:r>
            <a:br/>
            <a:r>
              <a:t>• Public beta launch.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783080"/>
            <a:ext cx="274320" cy="3657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69680" y="2011680"/>
            <a:ext cx="2377440" cy="329184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75520" y="164592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6840" y="2286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6B6D4"/>
                </a:solidFill>
                <a:latin typeface="Segoe UI"/>
              </a:defRPr>
            </a:pPr>
            <a:r>
              <a:t>Phase 4: Scaling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83464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Q4 2026</a:t>
            </a:r>
          </a:p>
          <a:p>
            <a:pPr>
              <a:spcAft>
                <a:spcPts val="400"/>
              </a:spcAft>
              <a:defRPr sz="1100">
                <a:solidFill>
                  <a:srgbClr val="A0AEC0"/>
                </a:solidFill>
                <a:latin typeface="Segoe UI"/>
              </a:defRPr>
            </a:pPr>
            <a:r>
              <a:t>• Stellar Anchor integration.</a:t>
            </a:r>
            <a:br/>
            <a:r>
              <a:t>• Fiat onboarding.</a:t>
            </a:r>
            <a:br/>
            <a:r>
              <a:t>• SBT multi-dApp integration.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ECOSYSTEM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Empowering Public Goods: Our Ask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754880" cy="384048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1031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Segoe UI"/>
              </a:defRPr>
            </a:pPr>
            <a:r>
              <a:t>Project 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4206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• Open Source Infrastructure:</a:t>
            </a:r>
          </a:p>
          <a:p>
            <a:pPr>
              <a:spcAft>
                <a:spcPts val="1200"/>
              </a:spcAft>
              <a:defRPr sz="1300">
                <a:solidFill>
                  <a:srgbClr val="A0AEC0"/>
                </a:solidFill>
              </a:defRPr>
            </a:pPr>
            <a:r>
              <a:t>Lumenova is built as a public good to secure crowdfunding transparently. The code is 100% open-source.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• Community First: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We focus on aligning incentives between project builders and micro-donors, minimizing Web3 onboarding friction.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828800"/>
            <a:ext cx="4754880" cy="384048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B6D4"/>
                </a:solidFill>
                <a:latin typeface="Segoe UI"/>
              </a:defRPr>
            </a:pPr>
            <a:r>
              <a:t>Ecosystem Support Needed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43200"/>
            <a:ext cx="4206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• Smart Contract Auditing:</a:t>
            </a:r>
          </a:p>
          <a:p>
            <a:pPr>
              <a:spcAft>
                <a:spcPts val="1200"/>
              </a:spcAft>
              <a:defRPr sz="1300">
                <a:solidFill>
                  <a:srgbClr val="A0AEC0"/>
                </a:solidFill>
              </a:defRPr>
            </a:pPr>
            <a:r>
              <a:t>Seeking partnerships with auditing teams to review escrow and badge contract security prior to Mainnet deployment.</a:t>
            </a:r>
          </a:p>
          <a:p>
            <a:pPr>
              <a:defRPr sz="1400" b="1">
                <a:solidFill>
                  <a:srgbClr val="A0AEC0"/>
                </a:solidFill>
              </a:defRPr>
            </a:pPr>
            <a:r>
              <a:t>• Anchor Integration &amp; Pilot Projects: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Looking for partners to pilot test the milestone-escrow framework for real-world charitable giving and local grants.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59E0B"/>
                </a:solidFill>
                <a:latin typeface="Trebuchet MS"/>
              </a:defRPr>
            </a:pPr>
            <a:r>
              <a:t>Empower Trust. Build Together.</a:t>
            </a:r>
          </a:p>
          <a:p>
            <a:pPr algn="ctr">
              <a:spcBef>
                <a:spcPts val="1500"/>
              </a:spcBef>
              <a:defRPr sz="1800">
                <a:solidFill>
                  <a:srgbClr val="A0AEC0"/>
                </a:solidFill>
                <a:latin typeface="Segoe UI"/>
              </a:defRPr>
            </a:pPr>
            <a:r>
              <a:t>Bringing transparency and community-led alignment to global crowdfunding.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657600"/>
            <a:ext cx="3108960" cy="201168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840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6B6D4"/>
                </a:solidFill>
                <a:latin typeface="Segoe UI"/>
              </a:defRPr>
            </a:pPr>
            <a:r>
              <a:t>GitHub Repository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29768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  <a:latin typeface="Segoe UI"/>
              </a:defRPr>
            </a:pPr>
            <a:r>
              <a:t>github.com/Abhishek86038/Lumenova-A5</a:t>
            </a:r>
            <a:br/>
            <a:br/>
            <a:r>
              <a:t>[ Check code and commits 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3657600"/>
            <a:ext cx="3108960" cy="201168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3840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9E0B"/>
                </a:solidFill>
                <a:latin typeface="Segoe UI"/>
              </a:defRPr>
            </a:pPr>
            <a:r>
              <a:t>Live Demonstration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429768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  <a:latin typeface="Segoe UI"/>
              </a:defRPr>
            </a:pPr>
            <a:r>
              <a:t>lumenova-a4.vercel.app</a:t>
            </a:r>
            <a:br/>
            <a:br/>
            <a:r>
              <a:t>[ Access on Testnet 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657600"/>
            <a:ext cx="3108960" cy="2011680"/>
          </a:xfrm>
          <a:prstGeom prst="roundRect">
            <a:avLst/>
          </a:prstGeom>
          <a:solidFill>
            <a:srgbClr val="12192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3840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6B6D4"/>
                </a:solidFill>
                <a:latin typeface="Segoe UI"/>
              </a:defRPr>
            </a:pPr>
            <a:r>
              <a:t>Developer 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429768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  <a:latin typeface="Segoe UI"/>
              </a:defRPr>
            </a:pPr>
            <a:r>
              <a:t>Abhishek / Team</a:t>
            </a:r>
            <a:br/>
            <a:r>
              <a:t>[ abhishek@example.com ]</a:t>
            </a:r>
            <a:br/>
            <a:br/>
            <a:r>
              <a:t>[ Say hello!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